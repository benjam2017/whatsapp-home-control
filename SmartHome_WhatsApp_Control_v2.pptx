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126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968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114800" cy="4114800"/>
          </a:xfrm>
          <a:prstGeom prst="ellipse">
            <a:avLst/>
          </a:prstGeom>
          <a:solidFill>
            <a:srgbClr val="3D5AD4">
              <a:alpha val="35000"/>
            </a:srgbClr>
          </a:solidFill>
          <a:ln w="12700">
            <a:solidFill>
              <a:srgbClr val="3D5AD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0" y="-1005840"/>
            <a:ext cx="2743200" cy="2743200"/>
          </a:xfrm>
          <a:prstGeom prst="ellipse">
            <a:avLst/>
          </a:prstGeom>
          <a:solidFill>
            <a:srgbClr val="5B78E8">
              <a:alpha val="22000"/>
            </a:srgbClr>
          </a:solidFill>
          <a:ln w="12700">
            <a:solidFill>
              <a:srgbClr val="5B78E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16368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17536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18704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19872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321040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0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516368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17536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18704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19872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1040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0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16368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17536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18704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19872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321040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0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16368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17536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18704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19872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21040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rot="-240000">
            <a:off x="-274320" y="3566160"/>
            <a:ext cx="4754880" cy="164592"/>
          </a:xfrm>
          <a:prstGeom prst="rect">
            <a:avLst/>
          </a:prstGeom>
          <a:solidFill>
            <a:srgbClr val="3D5AD4"/>
          </a:solidFill>
          <a:ln w="12700">
            <a:solidFill>
              <a:srgbClr val="3D5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1B3E"/>
          </a:solidFill>
          <a:ln w="12700">
            <a:solidFill>
              <a:srgbClr val="13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315968" y="4919472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17136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18304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919472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3017520"/>
            <a:ext cx="82296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234440"/>
            <a:ext cx="1234440" cy="123444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457200" y="315468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400" dirty="0" err="1">
                <a:solidFill>
                  <a:srgbClr val="FFFFFF"/>
                </a:solidFill>
                <a:latin typeface="Arial Black" pitchFamily="34" charset="0"/>
              </a:rPr>
              <a:t>Iot_curtain_call</a:t>
            </a:r>
            <a:endParaRPr lang="en-US" sz="4200" dirty="0"/>
          </a:p>
        </p:txBody>
      </p:sp>
      <p:sp>
        <p:nvSpPr>
          <p:cNvPr id="37" name="Text 34"/>
          <p:cNvSpPr/>
          <p:nvPr/>
        </p:nvSpPr>
        <p:spPr>
          <a:xfrm>
            <a:off x="457200" y="370332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600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sz="5600" dirty="0"/>
          </a:p>
        </p:txBody>
      </p:sp>
      <p:sp>
        <p:nvSpPr>
          <p:cNvPr id="38" name="Text 35"/>
          <p:cNvSpPr/>
          <p:nvPr/>
        </p:nvSpPr>
        <p:spPr>
          <a:xfrm>
            <a:off x="457200" y="44074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· WhatsApp · IPX800 V4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64592" y="2240280"/>
            <a:ext cx="502920" cy="502920"/>
          </a:xfrm>
          <a:prstGeom prst="rect">
            <a:avLst/>
          </a:prstGeom>
          <a:solidFill>
            <a:srgbClr val="131B3E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64592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800" dirty="0"/>
          </a:p>
        </p:txBody>
      </p:sp>
      <p:sp>
        <p:nvSpPr>
          <p:cNvPr id="41" name="Shape 38"/>
          <p:cNvSpPr/>
          <p:nvPr/>
        </p:nvSpPr>
        <p:spPr>
          <a:xfrm>
            <a:off x="8476488" y="2240280"/>
            <a:ext cx="502920" cy="502920"/>
          </a:xfrm>
          <a:prstGeom prst="rect">
            <a:avLst/>
          </a:prstGeom>
          <a:solidFill>
            <a:srgbClr val="131B3E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8476488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114800" cy="4114800"/>
          </a:xfrm>
          <a:prstGeom prst="ellipse">
            <a:avLst/>
          </a:prstGeom>
          <a:solidFill>
            <a:srgbClr val="3D5AD4">
              <a:alpha val="35000"/>
            </a:srgbClr>
          </a:solidFill>
          <a:ln w="12700">
            <a:solidFill>
              <a:srgbClr val="3D5AD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0" y="-1005840"/>
            <a:ext cx="2743200" cy="2743200"/>
          </a:xfrm>
          <a:prstGeom prst="ellipse">
            <a:avLst/>
          </a:prstGeom>
          <a:solidFill>
            <a:srgbClr val="5B78E8">
              <a:alpha val="22000"/>
            </a:srgbClr>
          </a:solidFill>
          <a:ln w="12700">
            <a:solidFill>
              <a:srgbClr val="5B78E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16368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17536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18704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19872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321040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0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516368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17536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18704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19872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1040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0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16368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17536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18704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19872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321040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0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16368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17536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18704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19872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21040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1B3E"/>
          </a:solidFill>
          <a:ln w="12700">
            <a:solidFill>
              <a:srgbClr val="13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315968" y="4919472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17136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18304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19472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1B3E"/>
          </a:solidFill>
          <a:ln w="12700">
            <a:solidFill>
              <a:srgbClr val="13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404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0" y="0"/>
            <a:ext cx="8869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· WhatsApp Control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960120"/>
            <a:ext cx="1920240" cy="2377440"/>
          </a:xfrm>
          <a:prstGeom prst="rect">
            <a:avLst/>
          </a:prstGeom>
          <a:solidFill>
            <a:srgbClr val="1E2D6B"/>
          </a:solidFill>
          <a:ln w="15240">
            <a:solidFill>
              <a:srgbClr val="1D9E7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960120"/>
            <a:ext cx="1920240" cy="6583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24128"/>
            <a:ext cx="438912" cy="438912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347472" y="16459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47472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Cloud API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2304288" y="960120"/>
            <a:ext cx="1920240" cy="2377440"/>
          </a:xfrm>
          <a:prstGeom prst="rect">
            <a:avLst/>
          </a:prstGeom>
          <a:solidFill>
            <a:srgbClr val="1E2D6B"/>
          </a:solidFill>
          <a:ln w="15240">
            <a:solidFill>
              <a:srgbClr val="3D5AD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2304288" y="960120"/>
            <a:ext cx="1920240" cy="658368"/>
          </a:xfrm>
          <a:prstGeom prst="rect">
            <a:avLst/>
          </a:prstGeom>
          <a:solidFill>
            <a:srgbClr val="3D5AD4"/>
          </a:solidFill>
          <a:ln w="12700">
            <a:solidFill>
              <a:srgbClr val="3D5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1024128"/>
            <a:ext cx="438912" cy="438912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2377440" y="16459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Webhook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2377440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:443 · VPS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4334256" y="960120"/>
            <a:ext cx="1920240" cy="2377440"/>
          </a:xfrm>
          <a:prstGeom prst="rect">
            <a:avLst/>
          </a:prstGeom>
          <a:solidFill>
            <a:srgbClr val="1E2D6B"/>
          </a:solidFill>
          <a:ln w="15240">
            <a:solidFill>
              <a:srgbClr val="7F77DD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4334256" y="960120"/>
            <a:ext cx="1920240" cy="65836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1024128"/>
            <a:ext cx="438912" cy="438912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4407408" y="16459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Service</a:t>
            </a:r>
            <a:endParaRPr lang="en-US" sz="1200" dirty="0"/>
          </a:p>
        </p:txBody>
      </p:sp>
      <p:sp>
        <p:nvSpPr>
          <p:cNvPr id="51" name="Text 46"/>
          <p:cNvSpPr/>
          <p:nvPr/>
        </p:nvSpPr>
        <p:spPr>
          <a:xfrm>
            <a:off x="4407408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:8000 · VPS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6364224" y="960120"/>
            <a:ext cx="1920240" cy="2377440"/>
          </a:xfrm>
          <a:prstGeom prst="rect">
            <a:avLst/>
          </a:prstGeom>
          <a:solidFill>
            <a:srgbClr val="1E2D6B"/>
          </a:solidFill>
          <a:ln w="15240">
            <a:solidFill>
              <a:srgbClr val="D85A3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48"/>
          <p:cNvSpPr/>
          <p:nvPr/>
        </p:nvSpPr>
        <p:spPr>
          <a:xfrm>
            <a:off x="6364224" y="960120"/>
            <a:ext cx="1920240" cy="6583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4" y="1024128"/>
            <a:ext cx="438912" cy="438912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6437376" y="16459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IPX800 V4</a:t>
            </a:r>
            <a:endParaRPr lang="en-US" sz="1200" dirty="0"/>
          </a:p>
        </p:txBody>
      </p:sp>
      <p:sp>
        <p:nvSpPr>
          <p:cNvPr id="56" name="Text 50"/>
          <p:cNvSpPr/>
          <p:nvPr/>
        </p:nvSpPr>
        <p:spPr>
          <a:xfrm>
            <a:off x="6437376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LAN · DDNS</a:t>
            </a:r>
            <a:endParaRPr lang="en-US" sz="950" dirty="0"/>
          </a:p>
        </p:txBody>
      </p:sp>
      <p:pic>
        <p:nvPicPr>
          <p:cNvPr id="5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568" y="2075688"/>
            <a:ext cx="201168" cy="201168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2176272" y="23042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POST</a:t>
            </a:r>
            <a:endParaRPr lang="en-US" sz="750" dirty="0"/>
          </a:p>
        </p:txBody>
      </p:sp>
      <p:pic>
        <p:nvPicPr>
          <p:cNvPr id="5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8536" y="2075688"/>
            <a:ext cx="201168" cy="201168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4206240" y="23042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:8000</a:t>
            </a:r>
            <a:endParaRPr lang="en-US" sz="750" dirty="0"/>
          </a:p>
        </p:txBody>
      </p:sp>
      <p:pic>
        <p:nvPicPr>
          <p:cNvPr id="6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2075688"/>
            <a:ext cx="201168" cy="201168"/>
          </a:xfrm>
          <a:prstGeom prst="rect">
            <a:avLst/>
          </a:prstGeom>
        </p:spPr>
      </p:pic>
      <p:sp>
        <p:nvSpPr>
          <p:cNvPr id="62" name="Text 53"/>
          <p:cNvSpPr/>
          <p:nvPr/>
        </p:nvSpPr>
        <p:spPr>
          <a:xfrm>
            <a:off x="6236208" y="23042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DDNS :8080</a:t>
            </a:r>
            <a:endParaRPr lang="en-US" sz="750" dirty="0"/>
          </a:p>
        </p:txBody>
      </p:sp>
      <p:sp>
        <p:nvSpPr>
          <p:cNvPr id="63" name="Shape 54"/>
          <p:cNvSpPr/>
          <p:nvPr/>
        </p:nvSpPr>
        <p:spPr>
          <a:xfrm>
            <a:off x="2148840" y="896112"/>
            <a:ext cx="4251960" cy="2514600"/>
          </a:xfrm>
          <a:prstGeom prst="rect">
            <a:avLst/>
          </a:prstGeom>
          <a:solidFill>
            <a:srgbClr val="3D5AD4">
              <a:alpha val="8000"/>
            </a:srgbClr>
          </a:solidFill>
          <a:ln w="12700">
            <a:solidFill>
              <a:srgbClr val="3D5AD4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5"/>
          <p:cNvSpPr/>
          <p:nvPr/>
        </p:nvSpPr>
        <p:spPr>
          <a:xfrm>
            <a:off x="2167128" y="8961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</a:t>
            </a:r>
            <a:endParaRPr lang="en-US" sz="800" dirty="0"/>
          </a:p>
        </p:txBody>
      </p:sp>
      <p:sp>
        <p:nvSpPr>
          <p:cNvPr id="65" name="Shape 56"/>
          <p:cNvSpPr/>
          <p:nvPr/>
        </p:nvSpPr>
        <p:spPr>
          <a:xfrm>
            <a:off x="274320" y="3703320"/>
            <a:ext cx="8595360" cy="502920"/>
          </a:xfrm>
          <a:prstGeom prst="rect">
            <a:avLst/>
          </a:prstGeom>
          <a:solidFill>
            <a:srgbClr val="1E2D6B"/>
          </a:solidFill>
          <a:ln w="12700">
            <a:solidFill>
              <a:srgbClr val="3D5A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57"/>
          <p:cNvSpPr/>
          <p:nvPr/>
        </p:nvSpPr>
        <p:spPr>
          <a:xfrm>
            <a:off x="411480" y="37033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(Public):  </a:t>
            </a:r>
            <a:r>
              <a:rPr lang="en-US" sz="105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:443  +  FastAPI :8000    </a:t>
            </a: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LAN:  </a:t>
            </a:r>
            <a:r>
              <a:rPr lang="en-US" sz="105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IPX800 via DDNS + port-forward :8080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1B3E"/>
          </a:solidFill>
          <a:ln w="12700">
            <a:solidFill>
              <a:srgbClr val="13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315968" y="4919472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17136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18304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919472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1B3E"/>
          </a:solidFill>
          <a:ln w="12700">
            <a:solidFill>
              <a:srgbClr val="13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Flow — WhatsApp → Relay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0" y="0"/>
            <a:ext cx="8869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message sequence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" y="841248"/>
            <a:ext cx="1371600" cy="47548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" y="841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" y="10972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0" y="841248"/>
            <a:ext cx="1371600" cy="475488"/>
          </a:xfrm>
          <a:prstGeom prst="rect">
            <a:avLst/>
          </a:prstGeom>
          <a:solidFill>
            <a:srgbClr val="3D5AD4"/>
          </a:solidFill>
          <a:ln w="12700">
            <a:solidFill>
              <a:srgbClr val="3D5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28800" y="841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API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10972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API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566160" y="841248"/>
            <a:ext cx="1371600" cy="47548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66160" y="841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10972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:443 VPS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03520" y="841248"/>
            <a:ext cx="1371600" cy="47548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0" y="841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10972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:8000 VPS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406640" y="841248"/>
            <a:ext cx="1371600" cy="47548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06640" y="841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IPX800 V4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06640" y="10972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LAN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77240" y="1316736"/>
            <a:ext cx="0" cy="3493008"/>
          </a:xfrm>
          <a:prstGeom prst="line">
            <a:avLst/>
          </a:prstGeom>
          <a:noFill/>
          <a:ln w="10160">
            <a:solidFill>
              <a:srgbClr val="2A3B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14600" y="1316736"/>
            <a:ext cx="0" cy="3493008"/>
          </a:xfrm>
          <a:prstGeom prst="line">
            <a:avLst/>
          </a:prstGeom>
          <a:noFill/>
          <a:ln w="10160">
            <a:solidFill>
              <a:srgbClr val="2A3B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251960" y="1316736"/>
            <a:ext cx="0" cy="3493008"/>
          </a:xfrm>
          <a:prstGeom prst="line">
            <a:avLst/>
          </a:prstGeom>
          <a:noFill/>
          <a:ln w="10160">
            <a:solidFill>
              <a:srgbClr val="2A3B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89320" y="1316736"/>
            <a:ext cx="0" cy="3493008"/>
          </a:xfrm>
          <a:prstGeom prst="line">
            <a:avLst/>
          </a:prstGeom>
          <a:noFill/>
          <a:ln w="10160">
            <a:solidFill>
              <a:srgbClr val="2A3B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092440" y="1316736"/>
            <a:ext cx="0" cy="3493008"/>
          </a:xfrm>
          <a:prstGeom prst="line">
            <a:avLst/>
          </a:prstGeom>
          <a:noFill/>
          <a:ln w="10160">
            <a:solidFill>
              <a:srgbClr val="2A3B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86384" y="1627632"/>
            <a:ext cx="1719072" cy="0"/>
          </a:xfrm>
          <a:prstGeom prst="line">
            <a:avLst/>
          </a:prstGeom>
          <a:noFill/>
          <a:ln w="1778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414016" y="153619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005840" y="1435608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"light on"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23744" y="2039112"/>
            <a:ext cx="1719072" cy="0"/>
          </a:xfrm>
          <a:prstGeom prst="line">
            <a:avLst/>
          </a:prstGeom>
          <a:noFill/>
          <a:ln w="1778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51376" y="194767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743200" y="1847088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/webhook  HTTPS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87952" y="1993392"/>
            <a:ext cx="128016" cy="1325880"/>
          </a:xfrm>
          <a:prstGeom prst="rect">
            <a:avLst/>
          </a:prstGeom>
          <a:solidFill>
            <a:srgbClr val="7F77DD">
              <a:alpha val="45000"/>
            </a:srgbClr>
          </a:solidFill>
          <a:ln w="12700">
            <a:solidFill>
              <a:srgbClr val="7F77D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523744" y="2450592"/>
            <a:ext cx="1719072" cy="0"/>
          </a:xfrm>
          <a:prstGeom prst="line">
            <a:avLst/>
          </a:prstGeom>
          <a:noFill/>
          <a:ln w="12700">
            <a:solidFill>
              <a:srgbClr val="8896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459736" y="23591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◁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788920" y="2258568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200  (immediate)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343400" y="2468880"/>
            <a:ext cx="1234440" cy="256032"/>
          </a:xfrm>
          <a:prstGeom prst="rect">
            <a:avLst/>
          </a:prstGeom>
          <a:solidFill>
            <a:srgbClr val="1A2050"/>
          </a:solidFill>
          <a:ln w="12700">
            <a:solidFill>
              <a:srgbClr val="7F77D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343400" y="24688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 · whitelist · dedup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261104" y="2862072"/>
            <a:ext cx="1719072" cy="0"/>
          </a:xfrm>
          <a:prstGeom prst="line">
            <a:avLst/>
          </a:prstGeom>
          <a:noFill/>
          <a:ln w="1778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888736" y="277063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480560" y="2670048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/control  (loopback)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925312" y="2816352"/>
            <a:ext cx="128016" cy="1325880"/>
          </a:xfrm>
          <a:prstGeom prst="rect">
            <a:avLst/>
          </a:prstGeom>
          <a:solidFill>
            <a:srgbClr val="185FA5">
              <a:alpha val="45000"/>
            </a:srgbClr>
          </a:solidFill>
          <a:ln w="12700">
            <a:solidFill>
              <a:srgbClr val="185FA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080760" y="2880360"/>
            <a:ext cx="1234440" cy="256032"/>
          </a:xfrm>
          <a:prstGeom prst="rect">
            <a:avLst/>
          </a:prstGeom>
          <a:solidFill>
            <a:srgbClr val="1A2050"/>
          </a:solidFill>
          <a:ln w="12700">
            <a:solidFill>
              <a:srgbClr val="185FA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080760" y="28803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LIGHT_ON → relay 1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998464" y="3273552"/>
            <a:ext cx="2084832" cy="0"/>
          </a:xfrm>
          <a:prstGeom prst="line">
            <a:avLst/>
          </a:prstGeom>
          <a:noFill/>
          <a:ln w="1778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991856" y="318211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400800" y="3081528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/preset.htm?led1=1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028432" y="3227832"/>
            <a:ext cx="128016" cy="914400"/>
          </a:xfrm>
          <a:prstGeom prst="rect">
            <a:avLst/>
          </a:prstGeom>
          <a:solidFill>
            <a:srgbClr val="D85A30">
              <a:alpha val="45000"/>
            </a:srgbClr>
          </a:solidFill>
          <a:ln w="12700">
            <a:solidFill>
              <a:srgbClr val="D85A3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165592" y="3547872"/>
            <a:ext cx="1005840" cy="256032"/>
          </a:xfrm>
          <a:prstGeom prst="rect">
            <a:avLst/>
          </a:prstGeom>
          <a:solidFill>
            <a:srgbClr val="2A1200"/>
          </a:solidFill>
          <a:ln w="12700">
            <a:solidFill>
              <a:srgbClr val="D85A3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165592" y="3547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B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1 closes ✓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998464" y="3776472"/>
            <a:ext cx="2084832" cy="0"/>
          </a:xfrm>
          <a:prstGeom prst="line">
            <a:avLst/>
          </a:prstGeom>
          <a:noFill/>
          <a:ln w="12700">
            <a:solidFill>
              <a:srgbClr val="8896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934456" y="368503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◁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446520" y="3584448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OK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261104" y="4096512"/>
            <a:ext cx="1719072" cy="0"/>
          </a:xfrm>
          <a:prstGeom prst="line">
            <a:avLst/>
          </a:prstGeom>
          <a:noFill/>
          <a:ln w="12700">
            <a:solidFill>
              <a:srgbClr val="8896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197096" y="400507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◁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526280" y="3904488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{"reply":"✅ Light ON"}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523744" y="4507992"/>
            <a:ext cx="1719072" cy="0"/>
          </a:xfrm>
          <a:prstGeom prst="line">
            <a:avLst/>
          </a:prstGeom>
          <a:noFill/>
          <a:ln w="1778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151376" y="4416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743200" y="4315968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/messages  Graph API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86384" y="4919472"/>
            <a:ext cx="1719072" cy="0"/>
          </a:xfrm>
          <a:prstGeom prst="line">
            <a:avLst/>
          </a:prstGeom>
          <a:noFill/>
          <a:ln w="12700">
            <a:solidFill>
              <a:srgbClr val="8896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22376" y="482803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◁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1051560" y="4727448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"✅ Light turned ON"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732520" y="490118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114800" cy="4114800"/>
          </a:xfrm>
          <a:prstGeom prst="ellipse">
            <a:avLst/>
          </a:prstGeom>
          <a:solidFill>
            <a:srgbClr val="3D5AD4">
              <a:alpha val="35000"/>
            </a:srgbClr>
          </a:solidFill>
          <a:ln w="12700">
            <a:solidFill>
              <a:srgbClr val="3D5AD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0" y="-1005840"/>
            <a:ext cx="2743200" cy="2743200"/>
          </a:xfrm>
          <a:prstGeom prst="ellipse">
            <a:avLst/>
          </a:prstGeom>
          <a:solidFill>
            <a:srgbClr val="5B78E8">
              <a:alpha val="22000"/>
            </a:srgbClr>
          </a:solidFill>
          <a:ln w="12700">
            <a:solidFill>
              <a:srgbClr val="5B78E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16368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17536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18704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19872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321040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0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516368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17536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18704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19872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1040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0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16368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17536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18704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19872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321040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0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16368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17536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18704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19872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21040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1B3E"/>
          </a:solidFill>
          <a:ln w="12700">
            <a:solidFill>
              <a:srgbClr val="13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315968" y="4919472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17136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18304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19472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1B3E"/>
          </a:solidFill>
          <a:ln w="12700">
            <a:solidFill>
              <a:srgbClr val="13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404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Curtain Interlock Safety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0" y="0"/>
            <a:ext cx="8869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protection · relay sequencing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914400"/>
            <a:ext cx="8595360" cy="530352"/>
          </a:xfrm>
          <a:prstGeom prst="rect">
            <a:avLst/>
          </a:prstGeom>
          <a:solidFill>
            <a:srgbClr val="352000"/>
          </a:solidFill>
          <a:ln w="1905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11480" y="91440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Simultaneous UP + DOWN signals would burn the motor windings — software interlock is mandatory.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1600200"/>
            <a:ext cx="3931920" cy="2103120"/>
          </a:xfrm>
          <a:prstGeom prst="rect">
            <a:avLst/>
          </a:prstGeom>
          <a:solidFill>
            <a:srgbClr val="2A1020"/>
          </a:solidFill>
          <a:ln w="15240">
            <a:solidFill>
              <a:srgbClr val="C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4320" y="1600200"/>
            <a:ext cx="3931920" cy="402336"/>
          </a:xfrm>
          <a:prstGeom prst="rect">
            <a:avLst/>
          </a:prstGeom>
          <a:solidFill>
            <a:srgbClr val="601020"/>
          </a:solidFill>
          <a:ln w="12700">
            <a:solidFill>
              <a:srgbClr val="60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160020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Without interlock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2084832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 2 (UP)   = ON
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 3 (DOWN) = ON
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FF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Motor stall / burnt windings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937760" y="1600200"/>
            <a:ext cx="3931920" cy="2103120"/>
          </a:xfrm>
          <a:prstGeom prst="rect">
            <a:avLst/>
          </a:prstGeom>
          <a:solidFill>
            <a:srgbClr val="102A18"/>
          </a:solidFill>
          <a:ln w="1524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937760" y="1600200"/>
            <a:ext cx="3931920" cy="402336"/>
          </a:xfrm>
          <a:prstGeom prst="rect">
            <a:avLst/>
          </a:prstGeom>
          <a:solidFill>
            <a:srgbClr val="0D5028"/>
          </a:solidFill>
          <a:ln w="12700">
            <a:solidFill>
              <a:srgbClr val="0D5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29200" y="160020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With interlock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74920" y="208483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80F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 3 (DOWN) = OFF   ← clear
</a:t>
            </a:r>
            <a:endParaRPr lang="en-US" sz="11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80F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sleep(200 ms)          ← gap
</a:t>
            </a:r>
            <a:endParaRPr lang="en-US" sz="11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50" b="1" dirty="0">
                <a:solidFill>
                  <a:srgbClr val="80F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 2 (UP)   = ON    ← set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mapping:  R1 = Light   ·   R2 = Curtain UP   ·   R3 = Curtain DOWN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114800" cy="4114800"/>
          </a:xfrm>
          <a:prstGeom prst="ellipse">
            <a:avLst/>
          </a:prstGeom>
          <a:solidFill>
            <a:srgbClr val="3D5AD4">
              <a:alpha val="35000"/>
            </a:srgbClr>
          </a:solidFill>
          <a:ln w="12700">
            <a:solidFill>
              <a:srgbClr val="3D5AD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0" y="-1005840"/>
            <a:ext cx="2743200" cy="2743200"/>
          </a:xfrm>
          <a:prstGeom prst="ellipse">
            <a:avLst/>
          </a:prstGeom>
          <a:solidFill>
            <a:srgbClr val="5B78E8">
              <a:alpha val="22000"/>
            </a:srgbClr>
          </a:solidFill>
          <a:ln w="12700">
            <a:solidFill>
              <a:srgbClr val="5B78E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16368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17536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18704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19872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321040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0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516368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17536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18704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19872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1040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0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16368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17536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18704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19872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321040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0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16368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17536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18704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19872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21040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1B3E"/>
          </a:solidFill>
          <a:ln w="12700">
            <a:solidFill>
              <a:srgbClr val="13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315968" y="4919472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17136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18304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19472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1B3E"/>
          </a:solidFill>
          <a:ln w="12700">
            <a:solidFill>
              <a:srgbClr val="13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404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Layers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0" y="0"/>
            <a:ext cx="8869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Defence-in-depth · 6 independent mechanisms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960120"/>
            <a:ext cx="4206240" cy="1078992"/>
          </a:xfrm>
          <a:prstGeom prst="rect">
            <a:avLst/>
          </a:prstGeom>
          <a:solidFill>
            <a:srgbClr val="1E2D6B"/>
          </a:solidFill>
          <a:ln w="12700">
            <a:solidFill>
              <a:srgbClr val="7F77DD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960120"/>
            <a:ext cx="54864" cy="10789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20624" y="10881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Transport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20624" y="1463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1.2/1.3 · Let's Encrypt · Node.js terminates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2194560"/>
            <a:ext cx="4206240" cy="1078992"/>
          </a:xfrm>
          <a:prstGeom prst="rect">
            <a:avLst/>
          </a:prstGeom>
          <a:solidFill>
            <a:srgbClr val="1E2D6B"/>
          </a:solidFill>
          <a:ln w="12700">
            <a:solidFill>
              <a:srgbClr val="3D5AD4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74320" y="2194560"/>
            <a:ext cx="54864" cy="1078992"/>
          </a:xfrm>
          <a:prstGeom prst="rect">
            <a:avLst/>
          </a:prstGeom>
          <a:solidFill>
            <a:srgbClr val="3D5AD4"/>
          </a:solidFill>
          <a:ln w="12700">
            <a:solidFill>
              <a:srgbClr val="3D5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20624" y="232257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 Authenticity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20624" y="2697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HMAC-SHA256 on every Meta POST · verifySignature()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429000"/>
            <a:ext cx="4206240" cy="1078992"/>
          </a:xfrm>
          <a:prstGeom prst="rect">
            <a:avLst/>
          </a:prstGeom>
          <a:solidFill>
            <a:srgbClr val="1E2D6B"/>
          </a:solidFill>
          <a:ln w="12700">
            <a:solidFill>
              <a:srgbClr val="1D9E75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74320" y="3429000"/>
            <a:ext cx="54864" cy="10789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20624" y="35570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Authorization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20624" y="3931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whitelist E.164 · unknown senders dropped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09160" y="960120"/>
            <a:ext cx="4206240" cy="1078992"/>
          </a:xfrm>
          <a:prstGeom prst="rect">
            <a:avLst/>
          </a:prstGeom>
          <a:solidFill>
            <a:srgbClr val="1E2D6B"/>
          </a:solidFill>
          <a:ln w="12700">
            <a:solidFill>
              <a:srgbClr val="7F77DD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709160" y="960120"/>
            <a:ext cx="54864" cy="107899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55464" y="10881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  Replay protection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855464" y="1463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Last-200 message-ID dedup · reprocessing blocked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09160" y="2194560"/>
            <a:ext cx="4206240" cy="1078992"/>
          </a:xfrm>
          <a:prstGeom prst="rect">
            <a:avLst/>
          </a:prstGeom>
          <a:solidFill>
            <a:srgbClr val="1E2D6B"/>
          </a:solidFill>
          <a:ln w="12700">
            <a:solidFill>
              <a:srgbClr val="3D5AD4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709160" y="2194560"/>
            <a:ext cx="54864" cy="1078992"/>
          </a:xfrm>
          <a:prstGeom prst="rect">
            <a:avLst/>
          </a:prstGeom>
          <a:solidFill>
            <a:srgbClr val="3D5AD4"/>
          </a:solidFill>
          <a:ln w="12700">
            <a:solidFill>
              <a:srgbClr val="3D5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855464" y="232257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Internal isolation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855464" y="2697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binds 127.0.0.1:8000 · never public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09160" y="3429000"/>
            <a:ext cx="4206240" cy="1078992"/>
          </a:xfrm>
          <a:prstGeom prst="rect">
            <a:avLst/>
          </a:prstGeom>
          <a:solidFill>
            <a:srgbClr val="1E2D6B"/>
          </a:solidFill>
          <a:ln w="12700">
            <a:solidFill>
              <a:srgbClr val="D85A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709160" y="3429000"/>
            <a:ext cx="54864" cy="107899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855464" y="35570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Motor safety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855464" y="3931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interlock + 200 ms gap · ipx800.py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114800" cy="4114800"/>
          </a:xfrm>
          <a:prstGeom prst="ellipse">
            <a:avLst/>
          </a:prstGeom>
          <a:solidFill>
            <a:srgbClr val="3D5AD4">
              <a:alpha val="35000"/>
            </a:srgbClr>
          </a:solidFill>
          <a:ln w="12700">
            <a:solidFill>
              <a:srgbClr val="3D5AD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0" y="-1005840"/>
            <a:ext cx="2743200" cy="2743200"/>
          </a:xfrm>
          <a:prstGeom prst="ellipse">
            <a:avLst/>
          </a:prstGeom>
          <a:solidFill>
            <a:srgbClr val="5B78E8">
              <a:alpha val="22000"/>
            </a:srgbClr>
          </a:solidFill>
          <a:ln w="12700">
            <a:solidFill>
              <a:srgbClr val="5B78E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16368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17536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18704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19872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321040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0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516368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17536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18704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19872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1040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0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16368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17536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18704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19872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321040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0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16368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17536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18704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19872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21040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1B3E"/>
          </a:solidFill>
          <a:ln w="12700">
            <a:solidFill>
              <a:srgbClr val="13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315968" y="4919472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17136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18304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19472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1B3E"/>
          </a:solidFill>
          <a:ln w="12700">
            <a:solidFill>
              <a:srgbClr val="13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4048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Checklist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0" y="0"/>
            <a:ext cx="8869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Pre-deployment · fill .env → smoke test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996696"/>
            <a:ext cx="164592" cy="20116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0352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Infrastructure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1353312"/>
            <a:ext cx="82296" cy="82296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30352" y="1271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public IP + domain A record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1645920"/>
            <a:ext cx="82296" cy="82296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0352" y="15636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Encrypt cert (privkey + fullchain)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1938528"/>
            <a:ext cx="82296" cy="82296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30352" y="1856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443 inbound · port 8000 loopback only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2386584"/>
            <a:ext cx="164592" cy="20116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30352" y="2350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IPX800 V4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65760" y="2743200"/>
            <a:ext cx="82296" cy="82296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30352" y="26609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set in Settings → API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3035808"/>
            <a:ext cx="82296" cy="82296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30352" y="2953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wiring: R1=Light R2=UP R3=DOWN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3328416"/>
            <a:ext cx="82296" cy="82296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30352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DDNS configured (DuckDNS / No-IP)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621024"/>
            <a:ext cx="82296" cy="82296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30352" y="3538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forward TCP 8080 → IPX800:80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09160" y="996696"/>
            <a:ext cx="164592" cy="20116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965192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/ WhatsApp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800600" y="1353312"/>
            <a:ext cx="82296" cy="82296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965192" y="1271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Developer account + Business app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00600" y="1645920"/>
            <a:ext cx="82296" cy="82296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965192" y="15636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WA_PHONE_NUMBER_ID + permanent token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800600" y="1938528"/>
            <a:ext cx="82296" cy="82296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965192" y="1856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WA_APP_SECRET from App Settings → Basic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800600" y="2231136"/>
            <a:ext cx="82296" cy="82296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965192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registered · field: messages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709160" y="2679192"/>
            <a:ext cx="164592" cy="20116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965192" y="26426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800600" y="3035808"/>
            <a:ext cx="82296" cy="82296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965192" y="2953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webhook/.env: phone ID, token, secret, verify, numbers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800600" y="3328416"/>
            <a:ext cx="82296" cy="82296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965192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fastapi/.env: IPX800_HOST, PORT, APIKEY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800600" y="3621024"/>
            <a:ext cx="82296" cy="82296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965192" y="3538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test: curl http://127.0.0.1:8000/health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44568" y="914400"/>
            <a:ext cx="0" cy="3749040"/>
          </a:xfrm>
          <a:prstGeom prst="line">
            <a:avLst/>
          </a:prstGeom>
          <a:noFill/>
          <a:ln w="10160">
            <a:solidFill>
              <a:srgbClr val="2A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114800" cy="4114800"/>
          </a:xfrm>
          <a:prstGeom prst="ellipse">
            <a:avLst/>
          </a:prstGeom>
          <a:solidFill>
            <a:srgbClr val="3D5AD4">
              <a:alpha val="35000"/>
            </a:srgbClr>
          </a:solidFill>
          <a:ln w="12700">
            <a:solidFill>
              <a:srgbClr val="3D5AD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0" y="-1005840"/>
            <a:ext cx="2743200" cy="2743200"/>
          </a:xfrm>
          <a:prstGeom prst="ellipse">
            <a:avLst/>
          </a:prstGeom>
          <a:solidFill>
            <a:srgbClr val="5B78E8">
              <a:alpha val="22000"/>
            </a:srgbClr>
          </a:solidFill>
          <a:ln w="12700">
            <a:solidFill>
              <a:srgbClr val="5B78E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16368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17536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18704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19872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321040" y="274320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0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516368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17536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18704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19872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1040" y="475488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0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16368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17536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18704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19872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321040" y="676656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0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16368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17536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18704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19872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21040" y="877824"/>
            <a:ext cx="64008" cy="64008"/>
          </a:xfrm>
          <a:prstGeom prst="ellipse">
            <a:avLst/>
          </a:prstGeom>
          <a:solidFill>
            <a:srgbClr val="7B9CF5">
              <a:alpha val="45000"/>
            </a:srgbClr>
          </a:solidFill>
          <a:ln w="12700">
            <a:solidFill>
              <a:srgbClr val="7B9CF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rot="-240000">
            <a:off x="-274320" y="3566160"/>
            <a:ext cx="4754880" cy="164592"/>
          </a:xfrm>
          <a:prstGeom prst="rect">
            <a:avLst/>
          </a:prstGeom>
          <a:solidFill>
            <a:srgbClr val="3D5AD4"/>
          </a:solidFill>
          <a:ln w="12700">
            <a:solidFill>
              <a:srgbClr val="3D5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1B3E"/>
          </a:solidFill>
          <a:ln w="12700">
            <a:solidFill>
              <a:srgbClr val="13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315968" y="4919472"/>
            <a:ext cx="91440" cy="9144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17136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18304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919472" y="4919472"/>
            <a:ext cx="91440" cy="91440"/>
          </a:xfrm>
          <a:prstGeom prst="ellipse">
            <a:avLst/>
          </a:prstGeom>
          <a:solidFill>
            <a:srgbClr val="5B78E8"/>
          </a:solidFill>
          <a:ln w="12700">
            <a:solidFill>
              <a:srgbClr val="5B7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D9E75">
              <a:alpha val="18000"/>
            </a:srgbClr>
          </a:solidFill>
          <a:ln w="12700">
            <a:solidFill>
              <a:srgbClr val="1D9E7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02920"/>
            <a:ext cx="1371600" cy="137160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1371600" y="2057400"/>
            <a:ext cx="64008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Deploy</a:t>
            </a:r>
            <a:endParaRPr lang="en-US" sz="4000" dirty="0"/>
          </a:p>
        </p:txBody>
      </p:sp>
      <p:sp>
        <p:nvSpPr>
          <p:cNvPr id="38" name="Text 35"/>
          <p:cNvSpPr/>
          <p:nvPr/>
        </p:nvSpPr>
        <p:spPr>
          <a:xfrm>
            <a:off x="457200" y="29443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.env  →  start services  →  register Meta webhook  →  send "light on"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1188720" y="3493008"/>
            <a:ext cx="2194560" cy="475488"/>
          </a:xfrm>
          <a:prstGeom prst="rect">
            <a:avLst/>
          </a:prstGeom>
          <a:solidFill>
            <a:srgbClr val="3D5AD4">
              <a:alpha val="65000"/>
            </a:srgbClr>
          </a:solidFill>
          <a:ln w="12700">
            <a:solidFill>
              <a:srgbClr val="5B78E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188720" y="349300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:443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3611880" y="3493008"/>
            <a:ext cx="2194560" cy="475488"/>
          </a:xfrm>
          <a:prstGeom prst="rect">
            <a:avLst/>
          </a:prstGeom>
          <a:solidFill>
            <a:srgbClr val="3D5AD4">
              <a:alpha val="65000"/>
            </a:srgbClr>
          </a:solidFill>
          <a:ln w="12700">
            <a:solidFill>
              <a:srgbClr val="5B78E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611880" y="349300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:8000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035040" y="3493008"/>
            <a:ext cx="2194560" cy="475488"/>
          </a:xfrm>
          <a:prstGeom prst="rect">
            <a:avLst/>
          </a:prstGeom>
          <a:solidFill>
            <a:srgbClr val="3D5AD4">
              <a:alpha val="65000"/>
            </a:srgbClr>
          </a:solidFill>
          <a:ln w="12700">
            <a:solidFill>
              <a:srgbClr val="5B78E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035040" y="349300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IPX800 via DDNS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IPX800 V4 Smart Home — WhatsApp Control System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534</Words>
  <Application>Microsoft Office PowerPoint</Application>
  <PresentationFormat>On-screen Show (16:9)</PresentationFormat>
  <Paragraphs>113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Home WhatsApp Control</dc:title>
  <dc:subject>PptxGenJS Presentation</dc:subject>
  <dc:creator>PptxGenJS</dc:creator>
  <cp:lastModifiedBy>Xiaosong Wang</cp:lastModifiedBy>
  <cp:revision>2</cp:revision>
  <dcterms:created xsi:type="dcterms:W3CDTF">2026-05-30T06:47:18Z</dcterms:created>
  <dcterms:modified xsi:type="dcterms:W3CDTF">2026-05-30T06:52:16Z</dcterms:modified>
</cp:coreProperties>
</file>